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463040"/>
            <a:ext cx="4206240" cy="4206240"/>
          </a:xfrm>
          <a:prstGeom prst="ellipse">
            <a:avLst/>
          </a:prstGeom>
          <a:solidFill>
            <a:srgbClr val="894C30"/>
          </a:solidFill>
          <a:ln w="12700">
            <a:solidFill>
              <a:srgbClr val="894C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468880"/>
            <a:ext cx="3840480" cy="3840480"/>
          </a:xfrm>
          <a:prstGeom prst="ellipse">
            <a:avLst/>
          </a:prstGeom>
          <a:solidFill>
            <a:srgbClr val="769855">
              <a:alpha val="55000"/>
            </a:srgbClr>
          </a:solidFill>
          <a:ln w="12700">
            <a:solidFill>
              <a:srgbClr val="769855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972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Repeated Drought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Ecosystem Recovery?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880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Mid-Evaluation Report · Team Earth 404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29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Pavani · Raviteja · Vandana · Akshitha · Hasini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Earth 404 · Mid-Evaluation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changes ecosystem productivity, and its effects can outlast the dry spell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drought legacies (physiological, hydrological, ecological) can last months or years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Droughts are getting more frequent, intense and longer, so a new one may hit before recovery from the last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repeated exposure could compound damage over 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9728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0" y="1188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Rain-fed farming and groundwater-dependent livelihoods in Anantapur and Kurnool.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20640" y="228600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0" y="23774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repeated drought erodes resilience changes how water, afforestation and relief are prioritised.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20640" y="347472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3566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ecosystems remember past stress in a way that weakens later responses?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Earth 404 · Mid-Evaluation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0515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repeated exposure to drought reduce the resistance and recovery capacity of ecosystems?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Resistance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drought that hits before recovery from a prior one (successive) cause a bigger productivity drop than an isolated drought?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1945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Recovery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6974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ecosystem take longer to return to normal productivity after a successive drought than after an isolated one?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1945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Spatial variation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6974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effect uniform, or does it depend on baseline climate? Liu et al. (2026) found legacies only in some regions, hence six districts.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Earth 404 · Mid-Evaluation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districts in Andhra Pradesh across an aridity gradient · Jan 2001 to Dec 2022 · 264 months each · extracted via Google Earth Engine (FAO GAUL 2015, Level 2)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114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7373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 profile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study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Anantapur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Semi-arid, chronically drought-hit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focus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Kurnool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Semi-arid, moderately dry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Within-region comparison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Kadapa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Semi-arid, Rayalaseema dry belt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Within-region (added)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Chittoor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hilly, drier than coast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(added)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Prakasam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Coastal-influenced, drought-prone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Coastal contrast (added)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 Godavari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Coastal, tropical-wet, monsoon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Wet contrast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SPEI-03 (SPEIbase v2.10)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 km, monthly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and severity of droughts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MODIS GPP (MOD17A2H)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m, 8-day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outcome: resistance, recovery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MODIS NDVI (MOD13Q1)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m, 16-day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Cross-check of GPP resistance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ERA5-Land temperature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 km, monthly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per event, not analysed yet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CHIRPS rainfall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~5.5 km, daily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Extracted, not used (SPEI covers it)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754880" y="3566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GPP is the single outcome indicator; NDVI is only a validation check. Soil moisture was dropped when the Random Forest step was replaced by direct statistical tests.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six steps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Earth 404 · Mid-Evaluation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Find drought events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SPEI-03 below -1.0; merge runs 2 months apart or less; drop runs under 2 months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Successive or isolated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087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Successive only if it starts before recovery from a previous drought that caused a GPP loss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Resistance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5087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GPP in the event (plus 1-month lag) divided by the seasonal baseline; loss if below 0.90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Recovery time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375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until GPP is at least 90% of baseline for two months in a row, within 24 months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91840" y="28346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Statistical tests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3375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Mann-Whitney, Cliff's delta, bootstrap CI, district-stratified permutation, clustered OLS, Spearman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Cross-verification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3375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vs GPP resistance, plus a Kruskal-Wallis check for seasonal artefacts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drought events identified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Earth 404 · Mid-Evaluation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5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642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events across 6 districts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00584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1097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5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16642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events caused a GPP loss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5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 / 54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815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events recovered within 24 months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242316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8892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58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0815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successive events (3.4%)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recovery 2 months, mean 2.9; 48% recovered in a single month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recovery: 18 months (Kurnool, Jan 2018)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Successive: Anantapur (Jan 2004) and East Godavari (May 2003)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051560"/>
          <a:ext cx="3657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82296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Anantapur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Kurnool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 Godavari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Chittoor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Prakasam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SPEI-03 and GPP across the six districts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Earth 404 · Mid-Evaluation</a:t>
            </a:r>
            <a:endParaRPr lang="en-US" sz="900" dirty="0"/>
          </a:p>
        </p:txBody>
      </p:sp>
      <p:pic>
        <p:nvPicPr>
          <p:cNvPr id="4" name="Image 0" descr="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3346704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389120" y="128016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bands are detected drought events (SPEI-03 below -1.0)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Droughts cluster in the same years across districts (2003-05, 2009, 2016-17, 2019), so events are not fully independent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district shows a very large GPP spike in 2022, flagged for checking before the final submission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Resistance: repeated vs isolated droughts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Earth 404 · Mid-Evaluation</a:t>
            </a:r>
            <a:endParaRPr lang="en-US" sz="900" dirty="0"/>
          </a:p>
        </p:txBody>
      </p:sp>
      <p:pic>
        <p:nvPicPr>
          <p:cNvPr id="4" name="Image 0" descr="img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480560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1005840"/>
            <a:ext cx="1737360" cy="1234440"/>
          </a:xfrm>
          <a:prstGeom prst="roundRect">
            <a:avLst>
              <a:gd name="adj" fmla="val 8889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03520" y="1097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5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0.622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16642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resistance, repeated (n = 2)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49440" y="1005840"/>
            <a:ext cx="1737360" cy="1234440"/>
          </a:xfrm>
          <a:prstGeom prst="roundRect">
            <a:avLst>
              <a:gd name="adj" fmla="val 8889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097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5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16642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resistance, isolated (n = 56)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24688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-0.030, bootstrap 95% CI [-0.242, +0.183]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permutation p = 0.920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OLS repeat coefficient -0.113 (p = 0.581)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events fall inside the isolated range: no detectable effect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Resistance vs drought severity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Earth 404 · Mid-Evaluation</a:t>
            </a:r>
            <a:endParaRPr lang="en-US" sz="900" dirty="0"/>
          </a:p>
        </p:txBody>
      </p:sp>
      <p:pic>
        <p:nvPicPr>
          <p:cNvPr id="4" name="Image 0" descr="img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480560" cy="31775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212080" y="1188720"/>
            <a:ext cx="3474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relationship: similar severity gives the whole range of resistance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values sit at moderate severity (about 4-5) in Kurnool and Kadapa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not significant in the regression (p = 0.718); duration neither (p = 0.109)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Recovery: repeated vs isolated droughts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Earth 404 · Mid-Evaluation</a:t>
            </a:r>
            <a:endParaRPr lang="en-US" sz="900" dirty="0"/>
          </a:p>
        </p:txBody>
      </p:sp>
      <p:pic>
        <p:nvPicPr>
          <p:cNvPr id="4" name="Image 0" descr="img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57200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12080" y="100584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94960" y="10972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5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mo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6642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(n = 2)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95160" y="100584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78040" y="10972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5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2.85 mo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16642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(n = 52)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4688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+0.65 months, CI -2.42 to +3.64, p = 0.751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fits slower recovery, but two events cannot be separated from natural spread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gain was larger for repeat events (0.781 vs 0.318, perm. p = 0.139): inconclusive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tests and regional comparison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Earth 404 · Mid-Evaluation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572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731520"/>
                <a:gridCol w="685800"/>
                <a:gridCol w="685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(rep. / iso.)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rep.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iso.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 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Resistance (2/56)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time (2/52)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Post-drought residual (2/56)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gain (2/56)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005840"/>
          <a:ext cx="33832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73152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res.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rec. (mo)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 Godavari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Chittoor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Anantapur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Prakasam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Kurnool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D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Kurnool has the lowest resistance (coefficient -0.177 vs Anantapur, p = 0.065); Kadapa next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Prakasam is higher than Anantapur (+0.153, p = 0.030)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Anantapur, the most drought-prone, is not the lowest, so there is no simple wet = resistant ordering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checks and cross-verification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Earth 404 · Mid-Evaluation</a:t>
            </a:r>
            <a:endParaRPr lang="en-US" sz="900" dirty="0"/>
          </a:p>
        </p:txBody>
      </p:sp>
      <p:pic>
        <p:nvPicPr>
          <p:cNvPr id="4" name="Image 0" descr="img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480560" cy="31821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212080" y="100584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does not fall with event order; later events sit slightly higher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predictor was linked to lower resistance or longer recovery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pre-drought GPP went with higher resistance (rho = 0.325, p = 0.015), one of 12 exploratory tests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GPP vs NDVI resistance: rho = 0.514, p &lt; 0.001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of onset: Kruskal-Wallis p = 0.190, so no seasonal artefact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Earth 404 · Mid-Evaluation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005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detectable effect of repeated drought on resistance or recovery, but with only 2 successive events the test is weak. This is insufficient evidence, not evidence of no effect.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of events had a GPP loss, yet all recovered within 24 months (median 2). Pre-drought condition may matter.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1945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literature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6974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Differs from Xu et al. (2021), who used back-to-back experimental droughts. Closer to Liu et al. (2026) and Gliesch et al. (2025).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1945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pattern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6974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Kurnool and Kadapa are least resistant; regional gaps look larger than the repeat effect, but not a clean wet-to-dry gradient.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Earth 404 · Mid-Evaluation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repeat events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58, so low power; only very large effects detectable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not independent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5544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Same-year droughts across districts; effective sample is below 58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Definition-dependent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threshold and SPEI cutoff change the repeat count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data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stops at 2022; rainfall, soil moisture, temperature not analysed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40%: goals for the final evaluation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Earth 404 · Mid-Evaluation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292608"/>
          </a:xfrm>
          <a:prstGeom prst="roundRect">
            <a:avLst>
              <a:gd name="adj" fmla="val 50000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937760" cy="292608"/>
          </a:xfrm>
          <a:prstGeom prst="roundRect">
            <a:avLst>
              <a:gd name="adj" fmla="val 50000"/>
            </a:avLst>
          </a:prstGeom>
          <a:solidFill>
            <a:srgbClr val="C55A32"/>
          </a:solidFill>
          <a:ln w="12700">
            <a:solidFill>
              <a:srgbClr val="C55A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960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60% done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023360" cy="3154680"/>
          </a:xfrm>
          <a:prstGeom prst="roundRect">
            <a:avLst>
              <a:gd name="adj" fmla="val 3478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C55A32"/>
          </a:solidFill>
          <a:ln w="12700">
            <a:solidFill>
              <a:srgbClr val="C55A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737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more districts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from 6 to 10-12 districts (for example Nellore, Guntur, Krishna and Visakhapatnam) to cover more of the aridity gradient, using the same Google Earth Engine pipeline.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more districts give more drought events, and hopefully more successive ones. Right now only 2 of 58 events are successive, which is too few to test the effect.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023360" cy="3154680"/>
          </a:xfrm>
          <a:prstGeom prst="roundRect">
            <a:avLst>
              <a:gd name="adj" fmla="val 3478"/>
            </a:avLst>
          </a:prstGeom>
          <a:solidFill>
            <a:srgbClr val="EDF1ED"/>
          </a:solidFill>
          <a:ln w="12700">
            <a:solidFill>
              <a:srgbClr val="EDF1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737360"/>
            <a:ext cx="502920" cy="502920"/>
          </a:xfrm>
          <a:prstGeom prst="ellipse">
            <a:avLst/>
          </a:prstGeom>
          <a:solidFill>
            <a:srgbClr val="C55A32"/>
          </a:solidFill>
          <a:ln w="12700">
            <a:solidFill>
              <a:srgbClr val="C55A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1737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analysis on definitions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4231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analysis with different SPEI cutoffs (−0.8, −1.0, −1.5), recovery thresholds (0.85, 0.90, 0.95) and merge gaps, and compare SPEI-03 with SPEI-06.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566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number of repeat events depends on these choices. We will report how it changes and whether the conclusions hold.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Repeated Drought Reduce Ecosystem Recovery? - Mid-Evaluation</dc:title>
  <dc:subject>PptxGenJS Presentation</dc:subject>
  <dc:creator>Team Earth 404</dc:creator>
  <cp:lastModifiedBy>Team Earth 404</cp:lastModifiedBy>
  <cp:revision>1</cp:revision>
  <dcterms:created xsi:type="dcterms:W3CDTF">2026-10-07T12:05:44Z</dcterms:created>
  <dcterms:modified xsi:type="dcterms:W3CDTF">2026-10-07T12:05:44Z</dcterms:modified>
</cp:coreProperties>
</file>